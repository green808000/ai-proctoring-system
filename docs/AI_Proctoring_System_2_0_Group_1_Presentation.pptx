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Noto Serif"/>
      <p:regular r:id="rId201314"/>
    </p:embeddedFont>
    <p:embeddedFont>
      <p:font typeface="Noto Serif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403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.png"/><Relationship Id="rId14" Type="http://schemas.openxmlformats.org/officeDocument/2006/relationships/image" Target="../media/image-2-2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.png"/><Relationship Id="rId18" Type="http://schemas.openxmlformats.org/officeDocument/2006/relationships/image" Target="../media/image-2-2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1.png"/><Relationship Id="rId22" Type="http://schemas.openxmlformats.org/officeDocument/2006/relationships/image" Target="../media/image-2-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slideLayout" Target="../slideLayouts/slideLayout2.xml"/><Relationship Id="rId2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5.png"/><Relationship Id="rId8" Type="http://schemas.openxmlformats.org/officeDocument/2006/relationships/image" Target="../media/image-8-6.svg"/><Relationship Id="rId9" Type="http://schemas.openxmlformats.org/officeDocument/2006/relationships/image" Target="../media/image-8-5.png"/><Relationship Id="rId10" Type="http://schemas.openxmlformats.org/officeDocument/2006/relationships/image" Target="../media/image-8-6.svg"/><Relationship Id="rId11" Type="http://schemas.openxmlformats.org/officeDocument/2006/relationships/image" Target="../media/image-8-5.png"/><Relationship Id="rId12" Type="http://schemas.openxmlformats.org/officeDocument/2006/relationships/image" Target="../media/image-8-6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Proctoring System 2.0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Making Online Exams More Trustworthy —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a landmark-ratio prototype to a live, verified, recorded and reviewable exam.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502"/>
            <a:ext cx="10868745" cy="77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Problem: How Do We Know the Right Student Is Taking the Exam?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496516"/>
            <a:ext cx="10868745" cy="584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Online exams remove the invigilator from the room. Software must answer two critical questions: </a:t>
            </a:r>
            <a:pPr algn="l"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Is the person at the keyboard the registered student? Did anything happen during the exam that a human should review?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Traditional proctoring detects some suspicious behaviour, but identity may only be checked once, at login. After that first check, anyone could take over.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2203053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Six Flags V6 Monitors Continuously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35151"/>
            <a:ext cx="5393694" cy="1009749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5307" y="2740819"/>
            <a:ext cx="186031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8195" y="3101280"/>
            <a:ext cx="512025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Absence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98195" y="3343870"/>
            <a:ext cx="51202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face in frame for more than 3.5 seconds.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6526" y="2635151"/>
            <a:ext cx="5393694" cy="1009749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0358" y="2740819"/>
            <a:ext cx="186031" cy="186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73246" y="3101280"/>
            <a:ext cx="512025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Multiple Faces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273246" y="3343870"/>
            <a:ext cx="51202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More than one face in frame for 2 seconds.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726259"/>
            <a:ext cx="5393694" cy="10097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5307" y="3831927"/>
            <a:ext cx="186031" cy="18603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8195" y="4192389"/>
            <a:ext cx="512025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Head Movement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798195" y="4434979"/>
            <a:ext cx="51202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Head turned or tilted outside the calibrated range for 4 seconds.</a:t>
            </a:r>
            <a:endParaRPr lang="en-US" sz="9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36526" y="3726259"/>
            <a:ext cx="5393694" cy="1009749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40358" y="3831927"/>
            <a:ext cx="186031" cy="18603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273246" y="4192389"/>
            <a:ext cx="512025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Identity Mismatch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6273246" y="4434979"/>
            <a:ext cx="51202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Periodic re-verification during the exam does not match the enrolled face.</a:t>
            </a:r>
            <a:endParaRPr lang="en-US" sz="9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4817368"/>
            <a:ext cx="5393694" cy="1009749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65307" y="4923036"/>
            <a:ext cx="186031" cy="186035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98195" y="5283498"/>
            <a:ext cx="512025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Tab Switched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798195" y="5526088"/>
            <a:ext cx="51202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exam tab was hidden or the window minimised.</a:t>
            </a:r>
            <a:endParaRPr lang="en-US" sz="9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36526" y="4817368"/>
            <a:ext cx="5393694" cy="1009749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740358" y="4923036"/>
            <a:ext cx="186031" cy="186035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273246" y="5283498"/>
            <a:ext cx="512025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Verification Failed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6273246" y="5526088"/>
            <a:ext cx="51202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Pre-exam identity verification failed.</a:t>
            </a:r>
            <a:endParaRPr lang="en-US" sz="950" dirty="0"/>
          </a:p>
        </p:txBody>
      </p:sp>
      <p:sp>
        <p:nvSpPr>
          <p:cNvPr id="29" name="Shape 15"/>
          <p:cNvSpPr/>
          <p:nvPr/>
        </p:nvSpPr>
        <p:spPr>
          <a:xfrm>
            <a:off x="661475" y="5918696"/>
            <a:ext cx="10868745" cy="380802"/>
          </a:xfrm>
          <a:prstGeom prst="roundRect">
            <a:avLst>
              <a:gd name="adj" fmla="val 4886"/>
            </a:avLst>
          </a:prstGeom>
          <a:solidFill>
            <a:srgbClr val="5C3523"/>
          </a:solidFill>
          <a:ln/>
        </p:spPr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5495" y="6036766"/>
            <a:ext cx="154976" cy="124023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064491" y="6031012"/>
            <a:ext cx="1095129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V6 transforms basic proctoring into a system that helps institutions establish trust in remote examinations.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46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V1 Did — And Why It Isn't Enough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265363"/>
            <a:ext cx="436422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V1 Could Do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556" y="2746375"/>
            <a:ext cx="212620" cy="212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2037" y="2739330"/>
            <a:ext cx="165512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Detect when a student leaves the camera (absence).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3094" y="2746375"/>
            <a:ext cx="212620" cy="212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70575" y="2739330"/>
            <a:ext cx="165512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Detect multiple faces in frame.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56" y="3554313"/>
            <a:ext cx="212620" cy="2126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22037" y="3547269"/>
            <a:ext cx="165512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Detect head movement away from the screen.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63094" y="3554313"/>
            <a:ext cx="212620" cy="2126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70575" y="3547269"/>
            <a:ext cx="165512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Detect tab switching.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4556" y="4199235"/>
            <a:ext cx="212620" cy="2126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22037" y="4192191"/>
            <a:ext cx="390366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Perform a basic identity check at login using geometric ratios of ~10 face landmarks.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5377919" y="1299567"/>
            <a:ext cx="676813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Critical Weaknesses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7919" y="1577876"/>
            <a:ext cx="3079276" cy="56703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519599" y="2251174"/>
            <a:ext cx="2795914" cy="571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Photo could pass identity check</a:t>
            </a:r>
            <a:endParaRPr lang="en-US" sz="8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liveness test — a photograph satisfied verification.</a:t>
            </a:r>
            <a:endParaRPr lang="en-US" sz="8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7195" y="1577876"/>
            <a:ext cx="3079276" cy="56703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598876" y="2251174"/>
            <a:ext cx="2795914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Identity checked only once</a:t>
            </a:r>
            <a:endParaRPr lang="en-US" sz="8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 login, then never again during the exam.</a:t>
            </a:r>
            <a:endParaRPr lang="en-US" sz="8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77919" y="2964755"/>
            <a:ext cx="3079276" cy="56703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519599" y="3638054"/>
            <a:ext cx="2795914" cy="571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Weak identity signature</a:t>
            </a:r>
            <a:endParaRPr lang="en-US" sz="8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Geometric landmark ratios, not a learned embedding.</a:t>
            </a:r>
            <a:endParaRPr lang="en-US" sz="8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7195" y="2964755"/>
            <a:ext cx="3079276" cy="56703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8598876" y="3638054"/>
            <a:ext cx="2795914" cy="571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Fragmented evidence</a:t>
            </a:r>
            <a:endParaRPr lang="en-US" sz="8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One short clip per violation splits a single episode into pieces.</a:t>
            </a:r>
            <a:endParaRPr lang="en-US" sz="85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77919" y="4351635"/>
            <a:ext cx="3079276" cy="56703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519599" y="5024934"/>
            <a:ext cx="2795914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 login security</a:t>
            </a:r>
            <a:endParaRPr lang="en-US" sz="8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lockout, token expiry, or idle timeout.</a:t>
            </a:r>
            <a:endParaRPr lang="en-US" sz="8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7195" y="4351635"/>
            <a:ext cx="3079276" cy="567035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598876" y="5024934"/>
            <a:ext cx="2795914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Stuck sessions</a:t>
            </a:r>
            <a:endParaRPr lang="en-US" sz="8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Closed tabs left sessions "In Progress" forever.</a:t>
            </a:r>
            <a:endParaRPr lang="en-US" sz="850" dirty="0"/>
          </a:p>
        </p:txBody>
      </p:sp>
      <p:sp>
        <p:nvSpPr>
          <p:cNvPr id="27" name="Text 14"/>
          <p:cNvSpPr/>
          <p:nvPr/>
        </p:nvSpPr>
        <p:spPr>
          <a:xfrm>
            <a:off x="874095" y="5938441"/>
            <a:ext cx="11265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Bottom line: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V1 could detect suspicious behaviour — but it could not continuously establish that the verified student remained the person taking the exam.</a:t>
            </a:r>
            <a:endParaRPr lang="en-US" sz="1100" dirty="0"/>
          </a:p>
        </p:txBody>
      </p:sp>
      <p:sp>
        <p:nvSpPr>
          <p:cNvPr id="28" name="Shape 15"/>
          <p:cNvSpPr/>
          <p:nvPr/>
        </p:nvSpPr>
        <p:spPr>
          <a:xfrm>
            <a:off x="661475" y="5818882"/>
            <a:ext cx="19050" cy="437555"/>
          </a:xfrm>
          <a:prstGeom prst="roundRect">
            <a:avLst>
              <a:gd name="adj" fmla="val 49999"/>
            </a:avLst>
          </a:prstGeom>
          <a:solidFill>
            <a:srgbClr val="E2C2B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5562"/>
            <a:ext cx="6296860" cy="830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 Safer Exam Experience for Students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3360" y="1496318"/>
            <a:ext cx="6906444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V6 guides the student through a clear, fair journey: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233360" y="1782465"/>
            <a:ext cx="531601" cy="797421"/>
          </a:xfrm>
          <a:prstGeom prst="roundRect">
            <a:avLst>
              <a:gd name="adj" fmla="val 50000"/>
            </a:avLst>
          </a:prstGeom>
          <a:solidFill>
            <a:srgbClr val="5F515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9449" y="2081510"/>
            <a:ext cx="199325" cy="1993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8324" y="1915319"/>
            <a:ext cx="567189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Register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858324" y="2178943"/>
            <a:ext cx="567189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Three facial views (front, left, right) become identity embeddings stored securely.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33360" y="2673251"/>
            <a:ext cx="531601" cy="891480"/>
          </a:xfrm>
          <a:prstGeom prst="roundRect">
            <a:avLst>
              <a:gd name="adj" fmla="val 50000"/>
            </a:avLst>
          </a:prstGeom>
          <a:solidFill>
            <a:srgbClr val="5F515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9449" y="3019326"/>
            <a:ext cx="199325" cy="1993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58324" y="2806105"/>
            <a:ext cx="567189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Verify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858324" y="3069729"/>
            <a:ext cx="567189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Random blink or head-turn liveness challenge, then identity match using DeepFace SFace.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233360" y="3658096"/>
            <a:ext cx="531601" cy="891480"/>
          </a:xfrm>
          <a:prstGeom prst="roundRect">
            <a:avLst>
              <a:gd name="adj" fmla="val 50000"/>
            </a:avLst>
          </a:prstGeom>
          <a:solidFill>
            <a:srgbClr val="5F515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9449" y="4004171"/>
            <a:ext cx="199325" cy="1993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58324" y="3790950"/>
            <a:ext cx="567189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Take Exam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858324" y="4054574"/>
            <a:ext cx="567189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Continuous monitoring with head-position calibration and periodic re-verification every 30 seconds.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33360" y="4642941"/>
            <a:ext cx="531601" cy="797421"/>
          </a:xfrm>
          <a:prstGeom prst="roundRect">
            <a:avLst>
              <a:gd name="adj" fmla="val 50000"/>
            </a:avLst>
          </a:prstGeom>
          <a:solidFill>
            <a:srgbClr val="5F515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99449" y="4941987"/>
            <a:ext cx="199325" cy="1993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58324" y="4775795"/>
            <a:ext cx="567189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Complete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858324" y="5039420"/>
            <a:ext cx="567189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Camera and microphone evidence is securely associated with the session for later review.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233360" y="5545435"/>
            <a:ext cx="6296860" cy="786904"/>
          </a:xfrm>
          <a:prstGeom prst="roundRect">
            <a:avLst>
              <a:gd name="adj" fmla="val 2533"/>
            </a:avLst>
          </a:prstGeom>
          <a:solidFill>
            <a:srgbClr val="5C3523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211" y="5682655"/>
            <a:ext cx="166088" cy="13285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665150" y="5671939"/>
            <a:ext cx="5732220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principle: AI flags; humans decide.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Suspicious events are flagged for review rather than automatically treated as cheating. No student is automatically failed based solely on an AI flag.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351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67161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From Suspicion to Evidence: What Administrators Get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1475" y="2841625"/>
            <a:ext cx="1086874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Instead of reviewing hours of footage, administrators go directly to the moments that matter.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61475" y="481498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6" name="Shape 3"/>
          <p:cNvSpPr/>
          <p:nvPr/>
        </p:nvSpPr>
        <p:spPr>
          <a:xfrm>
            <a:off x="1962597" y="4398615"/>
            <a:ext cx="19050" cy="416421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7" name="Shape 4"/>
          <p:cNvSpPr/>
          <p:nvPr/>
        </p:nvSpPr>
        <p:spPr>
          <a:xfrm>
            <a:off x="1816055" y="4658866"/>
            <a:ext cx="312234" cy="312241"/>
          </a:xfrm>
          <a:prstGeom prst="roundRect">
            <a:avLst>
              <a:gd name="adj" fmla="val 6669"/>
            </a:avLst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1868044" y="4684812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229" y="3211413"/>
            <a:ext cx="234398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Create &amp; Manage Exams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0278" y="3489424"/>
            <a:ext cx="2343984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Set up examinations and enrol students.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139" y="4814937"/>
            <a:ext cx="19050" cy="416421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12" name="Shape 9"/>
          <p:cNvSpPr/>
          <p:nvPr/>
        </p:nvSpPr>
        <p:spPr>
          <a:xfrm>
            <a:off x="3190597" y="4658866"/>
            <a:ext cx="312234" cy="312241"/>
          </a:xfrm>
          <a:prstGeom prst="roundRect">
            <a:avLst>
              <a:gd name="adj" fmla="val 6669"/>
            </a:avLst>
          </a:prstGeom>
          <a:solidFill>
            <a:srgbClr val="5F5153"/>
          </a:solidFill>
          <a:ln/>
        </p:spPr>
      </p:sp>
      <p:sp>
        <p:nvSpPr>
          <p:cNvPr id="13" name="Text 10"/>
          <p:cNvSpPr/>
          <p:nvPr/>
        </p:nvSpPr>
        <p:spPr>
          <a:xfrm>
            <a:off x="3242586" y="4684812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174672" y="5370215"/>
            <a:ext cx="234408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View &amp; Search Sessions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174721" y="5648226"/>
            <a:ext cx="2344084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Filter by student, ID, subject or status.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11681" y="4398615"/>
            <a:ext cx="19050" cy="416421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17" name="Shape 14"/>
          <p:cNvSpPr/>
          <p:nvPr/>
        </p:nvSpPr>
        <p:spPr>
          <a:xfrm>
            <a:off x="4565139" y="4658866"/>
            <a:ext cx="312234" cy="312241"/>
          </a:xfrm>
          <a:prstGeom prst="roundRect">
            <a:avLst>
              <a:gd name="adj" fmla="val 6669"/>
            </a:avLst>
          </a:prstGeom>
          <a:solidFill>
            <a:srgbClr val="5F5153"/>
          </a:solidFill>
          <a:ln/>
        </p:spPr>
      </p:sp>
      <p:sp>
        <p:nvSpPr>
          <p:cNvPr id="18" name="Text 15"/>
          <p:cNvSpPr/>
          <p:nvPr/>
        </p:nvSpPr>
        <p:spPr>
          <a:xfrm>
            <a:off x="4617128" y="4684812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49264" y="3211413"/>
            <a:ext cx="234408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See Flagged Events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549264" y="3489424"/>
            <a:ext cx="2344084" cy="770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Six flag types: absence, multiple faces, head movement, identity mismatch, tab switch, verification failed.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86124" y="4814937"/>
            <a:ext cx="19050" cy="416421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22" name="Shape 19"/>
          <p:cNvSpPr/>
          <p:nvPr/>
        </p:nvSpPr>
        <p:spPr>
          <a:xfrm>
            <a:off x="5939582" y="4658866"/>
            <a:ext cx="312234" cy="312241"/>
          </a:xfrm>
          <a:prstGeom prst="roundRect">
            <a:avLst>
              <a:gd name="adj" fmla="val 6669"/>
            </a:avLst>
          </a:prstGeom>
          <a:solidFill>
            <a:srgbClr val="5F5153"/>
          </a:solidFill>
          <a:ln/>
        </p:spPr>
      </p:sp>
      <p:sp>
        <p:nvSpPr>
          <p:cNvPr id="23" name="Text 20"/>
          <p:cNvSpPr/>
          <p:nvPr/>
        </p:nvSpPr>
        <p:spPr>
          <a:xfrm>
            <a:off x="5991571" y="4684812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923806" y="5370215"/>
            <a:ext cx="234398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Auto-Grouped Incidents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923806" y="5648226"/>
            <a:ext cx="2343984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Flags within 10 seconds of each other join one incident — reducing noise.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460666" y="4398615"/>
            <a:ext cx="19050" cy="416421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27" name="Shape 24"/>
          <p:cNvSpPr/>
          <p:nvPr/>
        </p:nvSpPr>
        <p:spPr>
          <a:xfrm>
            <a:off x="7314124" y="4658866"/>
            <a:ext cx="312234" cy="312241"/>
          </a:xfrm>
          <a:prstGeom prst="roundRect">
            <a:avLst>
              <a:gd name="adj" fmla="val 6669"/>
            </a:avLst>
          </a:prstGeom>
          <a:solidFill>
            <a:srgbClr val="5F5153"/>
          </a:solidFill>
          <a:ln/>
        </p:spPr>
      </p:sp>
      <p:sp>
        <p:nvSpPr>
          <p:cNvPr id="28" name="Text 25"/>
          <p:cNvSpPr/>
          <p:nvPr/>
        </p:nvSpPr>
        <p:spPr>
          <a:xfrm>
            <a:off x="7366113" y="4684812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298298" y="3211413"/>
            <a:ext cx="234398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Stitched Video Evidence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298348" y="3489424"/>
            <a:ext cx="2343984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Continuous segments from 10 s before the first flag to 10 s after the last.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835209" y="4814937"/>
            <a:ext cx="19050" cy="416421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32" name="Shape 29"/>
          <p:cNvSpPr/>
          <p:nvPr/>
        </p:nvSpPr>
        <p:spPr>
          <a:xfrm>
            <a:off x="8688666" y="4658866"/>
            <a:ext cx="312234" cy="312241"/>
          </a:xfrm>
          <a:prstGeom prst="roundRect">
            <a:avLst>
              <a:gd name="adj" fmla="val 6669"/>
            </a:avLst>
          </a:prstGeom>
          <a:solidFill>
            <a:srgbClr val="5F5153"/>
          </a:solidFill>
          <a:ln/>
        </p:spPr>
      </p:sp>
      <p:sp>
        <p:nvSpPr>
          <p:cNvPr id="33" name="Text 30"/>
          <p:cNvSpPr/>
          <p:nvPr/>
        </p:nvSpPr>
        <p:spPr>
          <a:xfrm>
            <a:off x="8740656" y="4684812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672791" y="5370215"/>
            <a:ext cx="234408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Jump to the Exact Moment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7672791" y="5648226"/>
            <a:ext cx="2344084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One button per event; exam-elapsed timestamps ensure the jump lands precisely.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209751" y="4398615"/>
            <a:ext cx="19050" cy="416421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37" name="Shape 34"/>
          <p:cNvSpPr/>
          <p:nvPr/>
        </p:nvSpPr>
        <p:spPr>
          <a:xfrm>
            <a:off x="10063208" y="4658866"/>
            <a:ext cx="312234" cy="312241"/>
          </a:xfrm>
          <a:prstGeom prst="roundRect">
            <a:avLst>
              <a:gd name="adj" fmla="val 6669"/>
            </a:avLst>
          </a:prstGeom>
          <a:solidFill>
            <a:srgbClr val="5F5153"/>
          </a:solidFill>
          <a:ln/>
        </p:spPr>
      </p:sp>
      <p:sp>
        <p:nvSpPr>
          <p:cNvPr id="38" name="Text 35"/>
          <p:cNvSpPr/>
          <p:nvPr/>
        </p:nvSpPr>
        <p:spPr>
          <a:xfrm>
            <a:off x="10115198" y="4684812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047333" y="3211413"/>
            <a:ext cx="234408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Human Decision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9047333" y="3489424"/>
            <a:ext cx="2344084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 evidence and decide whether the flag represents a real concern.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22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Proof of Concept: What We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10680"/>
            <a:ext cx="11478330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Functional testing demonstrates that the core workflow works. Larger-scale accuracy and fairness testing remains necessary.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675904"/>
            <a:ext cx="108687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We Have Today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02941"/>
            <a:ext cx="2623576" cy="1094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4962" y="2256433"/>
            <a:ext cx="2316601" cy="78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End-to-end prototype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Three-view face enrolment, liveness detection, and continuous six-flag monitoring.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9765" y="2102941"/>
            <a:ext cx="2623675" cy="1094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63253" y="2256433"/>
            <a:ext cx="2316700" cy="78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Incident grouping &amp; stitched clips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30 raw events → </a:t>
            </a:r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16 grouped incidents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Stitched review clips generated per incident.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8155" y="2102941"/>
            <a:ext cx="2623675" cy="10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11643" y="2256433"/>
            <a:ext cx="2316700" cy="60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Administrator review interface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Jump-to-event playback landed on the correct moment in every checked case.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06545" y="2102941"/>
            <a:ext cx="2623675" cy="1094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60033" y="2256433"/>
            <a:ext cx="2316700" cy="60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Human-in-the-loop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automatic penalties — all flags presented for human review.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61475" y="3337421"/>
            <a:ext cx="10868745" cy="8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i="1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Note: One tester, small counts, ordinary room light. Dim light degraded identity checks badly. False-accept, false-reject and fairness rates remain unmeasured.</a:t>
            </a:r>
            <a:endParaRPr lang="en-US" sz="12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Identity Verification Results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2509" y="4285952"/>
            <a:ext cx="8826577" cy="19908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492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From Basic Proctoring to Continuous Exam Assurance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95376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V6 doesn't just detect suspicious behaviour. It connects identity, monitoring, recording and review into one workflow.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06141"/>
          <a:ext cx="10868745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375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Capability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V1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V6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234"/>
                    </a:solidFill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Identity model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Landmark ratios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DeepFace SFace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Face enrolment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1 view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3 views (front, left, right)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Liveness detection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 None</a:t>
                      </a:r>
                      <a:endParaRPr lang="en-US" sz="13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✓ Random blink or head-turn challenge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Identity monitoring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Login only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Periodic re-verification every 30 s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Recording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Short violation clips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Continuous 5-second segments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Evidence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Fragmented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Grouped incidents with stitched clips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Review interface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Basic violation list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Video + jump-to-event buttons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5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Decision model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Flag only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Human review — no auto-fail</a:t>
                      </a:r>
                      <a:endParaRPr lang="en-US" sz="13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403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295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Built Today. Ready to Evolve.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70087"/>
            <a:ext cx="527225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Current Limitations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61475" y="1673721"/>
            <a:ext cx="1679533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—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2248694"/>
            <a:ext cx="1679533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Dim Light Performance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757190"/>
            <a:ext cx="1679533" cy="7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Identity verification degrades badly without CLAHE enhancement in low-light conditions.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57785" y="1673721"/>
            <a:ext cx="1679533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—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2457785" y="2248694"/>
            <a:ext cx="1679533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 Error Rates Recorded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57785" y="2757190"/>
            <a:ext cx="1679533" cy="7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False-accept and false-reject rates cannot be computed from current single-tester testing.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4096" y="1673721"/>
            <a:ext cx="1679533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—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4254096" y="2248694"/>
            <a:ext cx="1679533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Clip Generation Speed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4096" y="2757190"/>
            <a:ext cx="1679533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~1 minute per incident; may miss events if exam ends within ~10 seconds.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1475" y="3734693"/>
            <a:ext cx="1679533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—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661475" y="4309666"/>
            <a:ext cx="1679533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 Speech Monitoring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4818162"/>
            <a:ext cx="167953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audio analysis implemented.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57785" y="3734693"/>
            <a:ext cx="1679533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—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2457785" y="4309666"/>
            <a:ext cx="1679533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Passive Liveness Disabled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57785" y="4818162"/>
            <a:ext cx="1679533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Implemented but unsuited to 3-second frame intervals.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4096" y="3734693"/>
            <a:ext cx="1679533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—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4254096" y="4309666"/>
            <a:ext cx="167953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Testing Gaps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54096" y="4610596"/>
            <a:ext cx="1679533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impostor, skin-tone or independent-user testing completed.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4317" y="1170087"/>
            <a:ext cx="527225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Comes Next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6463642" y="1691382"/>
            <a:ext cx="5072928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spcAft>
                <a:spcPts val="650"/>
              </a:spcAft>
              <a:buNone/>
            </a:pPr>
            <a:r>
              <a:rPr lang="en-US" sz="10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V6 demonstrates a practical path toward trustworthy online examinations — combining AI automation with human judgement.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detects. Evidence explains. Humans decide.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4317" y="1607344"/>
            <a:ext cx="19050" cy="795337"/>
          </a:xfrm>
          <a:prstGeom prst="roundRect">
            <a:avLst>
              <a:gd name="adj" fmla="val 49999"/>
            </a:avLst>
          </a:prstGeom>
          <a:solidFill>
            <a:srgbClr val="E2C2B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64317" y="2507754"/>
            <a:ext cx="2589445" cy="1317427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397167" y="2640608"/>
            <a:ext cx="2323744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Multi-user &amp; diverse testing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97167" y="3149104"/>
            <a:ext cx="232374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Larger participant pools across lighting, skin tones, glasses, and head angles.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7125" y="2507754"/>
            <a:ext cx="2589445" cy="1317427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079975" y="2640608"/>
            <a:ext cx="2323744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Impostor &amp; replay-attack testing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9079975" y="3149104"/>
            <a:ext cx="232374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Stress-test liveness and identity matching against deliberate spoofing.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317" y="3918545"/>
            <a:ext cx="2589445" cy="1109861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397167" y="4051399"/>
            <a:ext cx="2323744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Threshold tuning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397167" y="4352330"/>
            <a:ext cx="232374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Optimise the identity decision threshold for balanced accept/reject performance.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7125" y="3918545"/>
            <a:ext cx="2589445" cy="110986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79975" y="4051399"/>
            <a:ext cx="2323744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Clip-generation speed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9079975" y="4352330"/>
            <a:ext cx="232374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Improve pipeline to reduce the current ~1 minute per incident delay.</a:t>
            </a:r>
            <a:endParaRPr lang="en-US" sz="10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64317" y="5121771"/>
            <a:ext cx="2589445" cy="110986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397167" y="5254625"/>
            <a:ext cx="2323744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Security hardening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397167" y="5555555"/>
            <a:ext cx="232374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Strengthen administrator authentication and media protection.</a:t>
            </a:r>
            <a:endParaRPr lang="en-US" sz="10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47125" y="5121771"/>
            <a:ext cx="2589445" cy="1109861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079975" y="5254625"/>
            <a:ext cx="2323744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Broader detection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9079975" y="5555555"/>
            <a:ext cx="232374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Improve recognition of distant people and emerging examination risks.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5958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25838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Questions?</a:t>
            </a:r>
            <a:endParaRPr lang="en-US" sz="2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2026-10-05T19:18:06Z</dcterms:created>
  <dcterms:modified xsi:type="dcterms:W3CDTF">2026-10-05T19:18:06Z</dcterms:modified>
</cp:coreProperties>
</file>